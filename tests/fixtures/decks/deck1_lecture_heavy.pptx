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fluid mosaic model — students always confuse it with a rigid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mix up active and passive. Use the hill analogy.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organelles to the 'cell as a city' analogy from last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stages on the board. Students need to see this visually.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enzyme kinetics graph. Discuss Michaelis-Menten if time permits.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Cell Biology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 101 — Lecture 4</a:t>
            </a:r>
          </a:p>
          <a:p>
            <a:r>
              <a:t>Dr. Emily Chen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Membrane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cell membrane is a phospholipid bilayer</a:t>
            </a:r>
          </a:p>
          <a:p>
            <a:r>
              <a:t>• Each phospholipid has a hydrophilic head and two hydrophobic tails</a:t>
            </a:r>
          </a:p>
          <a:p>
            <a:r>
              <a:t>• The membrane is selectively permeable — allows some substances through but not others</a:t>
            </a:r>
          </a:p>
          <a:p>
            <a:r>
              <a:t>• Membrane proteins serve as channels, carriers, receptors, and enzymes</a:t>
            </a:r>
          </a:p>
          <a:p>
            <a:r>
              <a:t>• Cholesterol molecules are embedded between phospholipids to regulate fluidity</a:t>
            </a:r>
          </a:p>
          <a:p>
            <a:r>
              <a:t>• The fluid mosaic model describes the dynamic nature of membrane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Transport Across the Membrane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Passive transport: movement down the concentration gradient, no energy required</a:t>
            </a:r>
          </a:p>
          <a:p>
            <a:r>
              <a:t>  — Simple diffusion: small nonpolar molecules (O2, CO2)</a:t>
            </a:r>
          </a:p>
          <a:p>
            <a:r>
              <a:t>  — Facilitated diffusion: uses protein channels or carriers</a:t>
            </a:r>
          </a:p>
          <a:p>
            <a:r>
              <a:t>  — Osmosis: diffusion of water across a semipermeable membrane</a:t>
            </a:r>
          </a:p>
          <a:p>
            <a:r>
              <a:t>• Active transport: movement against the concentration gradient, requires ATP</a:t>
            </a:r>
          </a:p>
          <a:p>
            <a:r>
              <a:t>  — Sodium-potassium pump (Na+/K+ ATPase)</a:t>
            </a:r>
          </a:p>
          <a:p>
            <a:r>
              <a:t>  — Endocytosis and exocytosis for large molecules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Organelles and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Nucleus: contains DNA; controls cell activities</a:t>
            </a:r>
          </a:p>
          <a:p>
            <a:r>
              <a:t>• Mitochondria: site of aerobic respiration; produces ATP</a:t>
            </a:r>
          </a:p>
          <a:p>
            <a:r>
              <a:t>• Ribosomes: site of protein synthesis</a:t>
            </a:r>
          </a:p>
          <a:p>
            <a:r>
              <a:t>• Endoplasmic reticulum: rough ER (protein processing) and smooth ER (lipid synthesis)</a:t>
            </a:r>
          </a:p>
          <a:p>
            <a:r>
              <a:t>• Golgi apparatus: sorts and packages proteins for secretion</a:t>
            </a:r>
          </a:p>
          <a:p>
            <a:r>
              <a:t>• Lysosomes: contain digestive enzymes; break down waste</a:t>
            </a:r>
          </a:p>
          <a:p>
            <a:r>
              <a:t>• Vacuoles: storage; large central vacuole in plant cells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Division: Mitosis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Mitosis produces two genetically identical daughter cells</a:t>
            </a:r>
          </a:p>
          <a:p>
            <a:r>
              <a:t>• Phases: Prophase → Metaphase → Anaphase → Telophase → Cytokinesis</a:t>
            </a:r>
          </a:p>
          <a:p>
            <a:r>
              <a:t>• Prophase: chromosomes condense, spindle forms</a:t>
            </a:r>
          </a:p>
          <a:p>
            <a:r>
              <a:t>• Metaphase: chromosomes align at the metaphase plate</a:t>
            </a:r>
          </a:p>
          <a:p>
            <a:r>
              <a:t>• Anaphase: sister chromatids pulled to opposite poles</a:t>
            </a:r>
          </a:p>
          <a:p>
            <a:r>
              <a:t>• Telophase: nuclear envelope reforms, chromosomes decondense</a:t>
            </a:r>
          </a:p>
          <a:p>
            <a:r>
              <a:t>• Cytokinesis: cytoplasm divides (cleavage furrow in animals, cell plate in plants)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Enzyme Activity and Regulation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Enzymes are biological catalysts — lower activation energy without being consumed</a:t>
            </a:r>
          </a:p>
          <a:p>
            <a:r>
              <a:t>• Active site: region where substrate binds (lock-and-key or induced fit model)</a:t>
            </a:r>
          </a:p>
          <a:p>
            <a:r>
              <a:t>• Factors affecting enzyme activity:</a:t>
            </a:r>
          </a:p>
          <a:p>
            <a:r>
              <a:t>  — Temperature: optimal ~37°C for human enzymes; denaturation above ~45°C</a:t>
            </a:r>
          </a:p>
          <a:p>
            <a:r>
              <a:t>  — pH: each enzyme has an optimal pH (pepsin: pH 2; catalase: pH 7)</a:t>
            </a:r>
          </a:p>
          <a:p>
            <a:r>
              <a:t>  — Substrate concentration: rate increases until enzyme is saturated (Vmax)</a:t>
            </a:r>
          </a:p>
          <a:p>
            <a:r>
              <a:t>• Inhibition:</a:t>
            </a:r>
          </a:p>
          <a:p>
            <a:r>
              <a:t>  — Competitive inhibition: inhibitor competes for active site</a:t>
            </a:r>
          </a:p>
          <a:p>
            <a:r>
              <a:t>  — Non-competitive inhibition: binds allosteric site, changes active site shape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r>
              <a:t>• Membrane = phospholipid bilayer</a:t>
            </a:r>
          </a:p>
          <a:p>
            <a:r>
              <a:t>• Transport types: passive vs. active</a:t>
            </a:r>
          </a:p>
          <a:p>
            <a:r>
              <a:t>• Organelles have specialized functions</a:t>
            </a:r>
          </a:p>
          <a:p>
            <a:r>
              <a:t>• Mitosis = 5 phases</a:t>
            </a:r>
          </a:p>
          <a:p>
            <a:r>
              <a:t>• Enzyme activity regulated by temperature, pH, concentration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