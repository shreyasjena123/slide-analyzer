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Statistics for Data Science</a:t>
            </a:r>
          </a:p>
        </p:txBody>
      </p:sp>
      <p:sp>
        <p:nvSpPr>
          <p:cNvPr id="3" name="Subtitle 2"/>
          <p:cNvSpPr>
            <a:spLocks noGrp="1"/>
          </p:cNvSpPr>
          <p:nvPr>
            <p:ph type="subTitle" idx="1"/>
          </p:nvPr>
        </p:nvSpPr>
        <p:spPr/>
        <p:txBody>
          <a:bodyPr/>
          <a:lstStyle/>
          <a:p>
            <a:r>
              <a:t>DS 301 — Module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229600" cy="640080"/>
          </a:xfrm>
          <a:prstGeom prst="rect">
            <a:avLst/>
          </a:prstGeom>
          <a:noFill/>
        </p:spPr>
        <p:txBody>
          <a:bodyPr wrap="square">
            <a:spAutoFit/>
          </a:bodyPr>
          <a:lstStyle/>
          <a:p>
            <a:r>
              <a:rPr sz="2800" b="1"/>
              <a:t>Types of Data</a:t>
            </a:r>
          </a:p>
        </p:txBody>
      </p:sp>
      <p:sp>
        <p:nvSpPr>
          <p:cNvPr id="3" name="TextBox 2"/>
          <p:cNvSpPr txBox="1"/>
          <p:nvPr/>
        </p:nvSpPr>
        <p:spPr>
          <a:xfrm>
            <a:off x="457200" y="1097280"/>
            <a:ext cx="3200400" cy="548640"/>
          </a:xfrm>
          <a:prstGeom prst="rect">
            <a:avLst/>
          </a:prstGeom>
          <a:noFill/>
        </p:spPr>
        <p:txBody>
          <a:bodyPr wrap="square">
            <a:spAutoFit/>
          </a:bodyPr>
          <a:lstStyle/>
          <a:p>
            <a:r>
              <a:rPr sz="1800" b="1"/>
              <a:t>QUANTITATIVE</a:t>
            </a:r>
          </a:p>
        </p:txBody>
      </p:sp>
      <p:sp>
        <p:nvSpPr>
          <p:cNvPr id="4" name="TextBox 3"/>
          <p:cNvSpPr txBox="1"/>
          <p:nvPr/>
        </p:nvSpPr>
        <p:spPr>
          <a:xfrm>
            <a:off x="457200" y="1828800"/>
            <a:ext cx="3200400" cy="2286000"/>
          </a:xfrm>
          <a:prstGeom prst="rect">
            <a:avLst/>
          </a:prstGeom>
          <a:noFill/>
        </p:spPr>
        <p:txBody>
          <a:bodyPr wrap="square">
            <a:spAutoFit/>
          </a:bodyPr>
          <a:lstStyle/>
          <a:p>
            <a:r>
              <a:rPr sz="1400" b="0"/>
              <a:t>Discrete
• Count data
• Whole numbers only
• Ex: # of students</a:t>
            </a:r>
          </a:p>
        </p:txBody>
      </p:sp>
      <p:sp>
        <p:nvSpPr>
          <p:cNvPr id="5" name="TextBox 4"/>
          <p:cNvSpPr txBox="1"/>
          <p:nvPr/>
        </p:nvSpPr>
        <p:spPr>
          <a:xfrm>
            <a:off x="457200" y="4297680"/>
            <a:ext cx="3200400" cy="2286000"/>
          </a:xfrm>
          <a:prstGeom prst="rect">
            <a:avLst/>
          </a:prstGeom>
          <a:noFill/>
        </p:spPr>
        <p:txBody>
          <a:bodyPr wrap="square">
            <a:spAutoFit/>
          </a:bodyPr>
          <a:lstStyle/>
          <a:p>
            <a:r>
              <a:rPr sz="1400" b="0"/>
              <a:t>Continuous
• Measured data
• Any real value
• Ex: height, temperature</a:t>
            </a:r>
          </a:p>
        </p:txBody>
      </p:sp>
      <p:sp>
        <p:nvSpPr>
          <p:cNvPr id="6" name="TextBox 5"/>
          <p:cNvSpPr txBox="1"/>
          <p:nvPr/>
        </p:nvSpPr>
        <p:spPr>
          <a:xfrm>
            <a:off x="4572000" y="1097280"/>
            <a:ext cx="3657600" cy="548640"/>
          </a:xfrm>
          <a:prstGeom prst="rect">
            <a:avLst/>
          </a:prstGeom>
          <a:noFill/>
        </p:spPr>
        <p:txBody>
          <a:bodyPr wrap="square">
            <a:spAutoFit/>
          </a:bodyPr>
          <a:lstStyle/>
          <a:p>
            <a:r>
              <a:rPr sz="1800" b="1"/>
              <a:t>CATEGORICAL</a:t>
            </a:r>
          </a:p>
        </p:txBody>
      </p:sp>
      <p:sp>
        <p:nvSpPr>
          <p:cNvPr id="7" name="TextBox 6"/>
          <p:cNvSpPr txBox="1"/>
          <p:nvPr/>
        </p:nvSpPr>
        <p:spPr>
          <a:xfrm>
            <a:off x="4572000" y="1828800"/>
            <a:ext cx="3657600" cy="2286000"/>
          </a:xfrm>
          <a:prstGeom prst="rect">
            <a:avLst/>
          </a:prstGeom>
          <a:noFill/>
        </p:spPr>
        <p:txBody>
          <a:bodyPr wrap="square">
            <a:spAutoFit/>
          </a:bodyPr>
          <a:lstStyle/>
          <a:p>
            <a:r>
              <a:rPr sz="1400" b="0"/>
              <a:t>Nominal
• No order
• Ex: eye color, country</a:t>
            </a:r>
          </a:p>
        </p:txBody>
      </p:sp>
      <p:sp>
        <p:nvSpPr>
          <p:cNvPr id="8" name="TextBox 7"/>
          <p:cNvSpPr txBox="1"/>
          <p:nvPr/>
        </p:nvSpPr>
        <p:spPr>
          <a:xfrm>
            <a:off x="4572000" y="4297680"/>
            <a:ext cx="3657600" cy="2286000"/>
          </a:xfrm>
          <a:prstGeom prst="rect">
            <a:avLst/>
          </a:prstGeom>
          <a:noFill/>
        </p:spPr>
        <p:txBody>
          <a:bodyPr wrap="square">
            <a:spAutoFit/>
          </a:bodyPr>
          <a:lstStyle/>
          <a:p>
            <a:r>
              <a:rPr sz="1400" b="0"/>
              <a:t>Ordinal
• Has order
• Ex: grade (A/B/C), survey rating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229600" cy="640080"/>
          </a:xfrm>
          <a:prstGeom prst="rect">
            <a:avLst/>
          </a:prstGeom>
          <a:noFill/>
        </p:spPr>
        <p:txBody>
          <a:bodyPr wrap="square">
            <a:spAutoFit/>
          </a:bodyPr>
          <a:lstStyle/>
          <a:p>
            <a:r>
              <a:rPr sz="2800" b="1"/>
              <a:t>Probability Distributions</a:t>
            </a:r>
          </a:p>
        </p:txBody>
      </p:sp>
      <p:sp>
        <p:nvSpPr>
          <p:cNvPr id="3" name="TextBox 2"/>
          <p:cNvSpPr txBox="1"/>
          <p:nvPr/>
        </p:nvSpPr>
        <p:spPr>
          <a:xfrm>
            <a:off x="274320" y="1097280"/>
            <a:ext cx="8595360" cy="5029200"/>
          </a:xfrm>
          <a:prstGeom prst="rect">
            <a:avLst/>
          </a:prstGeom>
          <a:noFill/>
        </p:spPr>
        <p:txBody>
          <a:bodyPr wrap="square">
            <a:spAutoFit/>
          </a:bodyPr>
          <a:lstStyle/>
          <a:p>
            <a:r>
              <a:rPr sz="1400" b="0"/>
              <a:t>The normal distribution, also called the Gaussian distribution, is the most important probability distribution in statistics. It is characterized by its bell-shaped curve, symmetric around the mean (μ), with spread determined by the standard deviation (σ). The empirical rule states that approximately 68% of data falls within 1σ of the mean, 95% within 2σ, and 99.7% within 3σ. The central limit theorem guarantees that the sampling distribution of the mean approaches normality as sample size increases, regardless of the population distribution. This makes the normal distribution the foundation for many statistical inference procedures including z-tests, t-tests, ANOVA, and linear regression. Other important distributions include the binomial (discrete outcomes), Poisson (count data), and exponential (time between events). Each has specific conditions under which it applies and characteristic parameters that define its shape.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229600" cy="640080"/>
          </a:xfrm>
          <a:prstGeom prst="rect">
            <a:avLst/>
          </a:prstGeom>
          <a:noFill/>
        </p:spPr>
        <p:txBody>
          <a:bodyPr wrap="square">
            <a:spAutoFit/>
          </a:bodyPr>
          <a:lstStyle/>
          <a:p>
            <a:r>
              <a:rPr sz="2800" b="1"/>
              <a:t>Hypothesis Testing Steps</a:t>
            </a:r>
          </a:p>
        </p:txBody>
      </p:sp>
      <p:sp>
        <p:nvSpPr>
          <p:cNvPr id="3" name="TextBox 2"/>
          <p:cNvSpPr txBox="1"/>
          <p:nvPr/>
        </p:nvSpPr>
        <p:spPr>
          <a:xfrm>
            <a:off x="274320" y="1188720"/>
            <a:ext cx="4114800" cy="1371600"/>
          </a:xfrm>
          <a:prstGeom prst="rect">
            <a:avLst/>
          </a:prstGeom>
          <a:noFill/>
        </p:spPr>
        <p:txBody>
          <a:bodyPr wrap="square">
            <a:spAutoFit/>
          </a:bodyPr>
          <a:lstStyle/>
          <a:p>
            <a:r>
              <a:rPr sz="1400" b="0"/>
              <a:t>Step 1: State H₀ and H₁</a:t>
            </a:r>
          </a:p>
        </p:txBody>
      </p:sp>
      <p:sp>
        <p:nvSpPr>
          <p:cNvPr id="4" name="TextBox 3"/>
          <p:cNvSpPr txBox="1"/>
          <p:nvPr/>
        </p:nvSpPr>
        <p:spPr>
          <a:xfrm>
            <a:off x="274320" y="2834640"/>
            <a:ext cx="4114800" cy="1371600"/>
          </a:xfrm>
          <a:prstGeom prst="rect">
            <a:avLst/>
          </a:prstGeom>
          <a:noFill/>
        </p:spPr>
        <p:txBody>
          <a:bodyPr wrap="square">
            <a:spAutoFit/>
          </a:bodyPr>
          <a:lstStyle/>
          <a:p>
            <a:r>
              <a:rPr sz="1400" b="0"/>
              <a:t>Step 2: Choose significance level α (0.05)</a:t>
            </a:r>
          </a:p>
        </p:txBody>
      </p:sp>
      <p:sp>
        <p:nvSpPr>
          <p:cNvPr id="5" name="TextBox 4"/>
          <p:cNvSpPr txBox="1"/>
          <p:nvPr/>
        </p:nvSpPr>
        <p:spPr>
          <a:xfrm>
            <a:off x="274320" y="4480560"/>
            <a:ext cx="4114800" cy="1371600"/>
          </a:xfrm>
          <a:prstGeom prst="rect">
            <a:avLst/>
          </a:prstGeom>
          <a:noFill/>
        </p:spPr>
        <p:txBody>
          <a:bodyPr wrap="square">
            <a:spAutoFit/>
          </a:bodyPr>
          <a:lstStyle/>
          <a:p>
            <a:r>
              <a:rPr sz="1400" b="0"/>
              <a:t>Step 3: Select appropriate test</a:t>
            </a:r>
          </a:p>
        </p:txBody>
      </p:sp>
      <p:sp>
        <p:nvSpPr>
          <p:cNvPr id="6" name="TextBox 5"/>
          <p:cNvSpPr txBox="1"/>
          <p:nvPr/>
        </p:nvSpPr>
        <p:spPr>
          <a:xfrm>
            <a:off x="4663440" y="1188720"/>
            <a:ext cx="4114800" cy="1371600"/>
          </a:xfrm>
          <a:prstGeom prst="rect">
            <a:avLst/>
          </a:prstGeom>
          <a:noFill/>
        </p:spPr>
        <p:txBody>
          <a:bodyPr wrap="square">
            <a:spAutoFit/>
          </a:bodyPr>
          <a:lstStyle/>
          <a:p>
            <a:r>
              <a:rPr sz="1400" b="0"/>
              <a:t>Step 4: Calculate test statistic</a:t>
            </a:r>
          </a:p>
        </p:txBody>
      </p:sp>
      <p:sp>
        <p:nvSpPr>
          <p:cNvPr id="7" name="TextBox 6"/>
          <p:cNvSpPr txBox="1"/>
          <p:nvPr/>
        </p:nvSpPr>
        <p:spPr>
          <a:xfrm>
            <a:off x="4663440" y="2834640"/>
            <a:ext cx="4114800" cy="1371600"/>
          </a:xfrm>
          <a:prstGeom prst="rect">
            <a:avLst/>
          </a:prstGeom>
          <a:noFill/>
        </p:spPr>
        <p:txBody>
          <a:bodyPr wrap="square">
            <a:spAutoFit/>
          </a:bodyPr>
          <a:lstStyle/>
          <a:p>
            <a:r>
              <a:rPr sz="1400" b="0"/>
              <a:t>Step 5: Determine p-value</a:t>
            </a:r>
          </a:p>
        </p:txBody>
      </p:sp>
      <p:sp>
        <p:nvSpPr>
          <p:cNvPr id="8" name="TextBox 7"/>
          <p:cNvSpPr txBox="1"/>
          <p:nvPr/>
        </p:nvSpPr>
        <p:spPr>
          <a:xfrm>
            <a:off x="4663440" y="4480560"/>
            <a:ext cx="4114800" cy="1371600"/>
          </a:xfrm>
          <a:prstGeom prst="rect">
            <a:avLst/>
          </a:prstGeom>
          <a:noFill/>
        </p:spPr>
        <p:txBody>
          <a:bodyPr wrap="square">
            <a:spAutoFit/>
          </a:bodyPr>
          <a:lstStyle/>
          <a:p>
            <a:r>
              <a:rPr sz="1400" b="0"/>
              <a:t>Step 6: Make decision: reject or fail to reject H₀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229600" cy="640080"/>
          </a:xfrm>
          <a:prstGeom prst="rect">
            <a:avLst/>
          </a:prstGeom>
          <a:noFill/>
        </p:spPr>
        <p:txBody>
          <a:bodyPr wrap="square">
            <a:spAutoFit/>
          </a:bodyPr>
          <a:lstStyle/>
          <a:p>
            <a:r>
              <a:rPr sz="2800" b="1"/>
              <a:t>Correlation vs. Causation</a:t>
            </a:r>
          </a:p>
        </p:txBody>
      </p:sp>
      <p:sp>
        <p:nvSpPr>
          <p:cNvPr id="3" name="TextBox 2"/>
          <p:cNvSpPr txBox="1"/>
          <p:nvPr/>
        </p:nvSpPr>
        <p:spPr>
          <a:xfrm>
            <a:off x="274320" y="1005840"/>
            <a:ext cx="8229600" cy="457200"/>
          </a:xfrm>
          <a:prstGeom prst="rect">
            <a:avLst/>
          </a:prstGeom>
          <a:noFill/>
        </p:spPr>
        <p:txBody>
          <a:bodyPr wrap="square">
            <a:spAutoFit/>
          </a:bodyPr>
          <a:lstStyle/>
          <a:p>
            <a:r>
              <a:rPr sz="2000" b="1"/>
              <a:t>Key principle:</a:t>
            </a:r>
          </a:p>
        </p:txBody>
      </p:sp>
      <p:sp>
        <p:nvSpPr>
          <p:cNvPr id="4" name="TextBox 3"/>
          <p:cNvSpPr txBox="1"/>
          <p:nvPr/>
        </p:nvSpPr>
        <p:spPr>
          <a:xfrm>
            <a:off x="274320" y="1554480"/>
            <a:ext cx="8229600" cy="548640"/>
          </a:xfrm>
          <a:prstGeom prst="rect">
            <a:avLst/>
          </a:prstGeom>
          <a:noFill/>
        </p:spPr>
        <p:txBody>
          <a:bodyPr wrap="square">
            <a:spAutoFit/>
          </a:bodyPr>
          <a:lstStyle/>
          <a:p>
            <a:r>
              <a:rPr sz="2400" b="0"/>
              <a:t>Correlation does not imply causation.</a:t>
            </a:r>
          </a:p>
        </p:txBody>
      </p:sp>
      <p:sp>
        <p:nvSpPr>
          <p:cNvPr id="5" name="TextBox 4"/>
          <p:cNvSpPr txBox="1"/>
          <p:nvPr/>
        </p:nvSpPr>
        <p:spPr>
          <a:xfrm>
            <a:off x="274320" y="2286000"/>
            <a:ext cx="8229600" cy="365760"/>
          </a:xfrm>
          <a:prstGeom prst="rect">
            <a:avLst/>
          </a:prstGeom>
          <a:noFill/>
        </p:spPr>
        <p:txBody>
          <a:bodyPr wrap="square">
            <a:spAutoFit/>
          </a:bodyPr>
          <a:lstStyle/>
          <a:p>
            <a:r>
              <a:rPr sz="1600" b="0"/>
              <a:t>Example spurious correlations:</a:t>
            </a:r>
          </a:p>
        </p:txBody>
      </p:sp>
      <p:sp>
        <p:nvSpPr>
          <p:cNvPr id="6" name="TextBox 5"/>
          <p:cNvSpPr txBox="1"/>
          <p:nvPr/>
        </p:nvSpPr>
        <p:spPr>
          <a:xfrm>
            <a:off x="274320" y="2743200"/>
            <a:ext cx="8229600" cy="3200400"/>
          </a:xfrm>
          <a:prstGeom prst="rect">
            <a:avLst/>
          </a:prstGeom>
          <a:noFill/>
        </p:spPr>
        <p:txBody>
          <a:bodyPr wrap="square">
            <a:spAutoFit/>
          </a:bodyPr>
          <a:lstStyle/>
          <a:p>
            <a:r>
              <a:rPr sz="1300" b="0"/>
              <a:t>• Ice cream sales ↑ correlates with drowning deaths ↑
  (Both caused by summer heat — confounding variable)
• Nicolas Cage films released correlates with pool drownings
  (Completely coincidental — no mechanism)
• Shoe size correlates with reading ability in children
  (Both caused by age — confounding variable)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0" y="2286000"/>
            <a:ext cx="3657600" cy="1371600"/>
          </a:xfrm>
          <a:prstGeom prst="rect">
            <a:avLst/>
          </a:prstGeom>
          <a:noFill/>
        </p:spPr>
        <p:txBody>
          <a:bodyPr wrap="square">
            <a:spAutoFit/>
          </a:bodyPr>
          <a:lstStyle/>
          <a:p>
            <a:r>
              <a:rPr sz="4000" b="1"/>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